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60" r:id="rId5"/>
    <p:sldId id="264" r:id="rId6"/>
    <p:sldId id="263" r:id="rId7"/>
    <p:sldId id="261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3370"/>
  </p:normalViewPr>
  <p:slideViewPr>
    <p:cSldViewPr snapToGrid="0">
      <p:cViewPr>
        <p:scale>
          <a:sx n="75" d="100"/>
          <a:sy n="75" d="100"/>
        </p:scale>
        <p:origin x="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hoon Song" userId="3e2bcfb71621bc09" providerId="LiveId" clId="{D6B86B6F-DE59-41CE-A255-3DBBC130CD18}"/>
    <pc:docChg chg="modSld">
      <pc:chgData name="Sihoon Song" userId="3e2bcfb71621bc09" providerId="LiveId" clId="{D6B86B6F-DE59-41CE-A255-3DBBC130CD18}" dt="2025-04-15T06:42:23.088" v="6" actId="1036"/>
      <pc:docMkLst>
        <pc:docMk/>
      </pc:docMkLst>
      <pc:sldChg chg="modSp mod">
        <pc:chgData name="Sihoon Song" userId="3e2bcfb71621bc09" providerId="LiveId" clId="{D6B86B6F-DE59-41CE-A255-3DBBC130CD18}" dt="2025-04-15T06:41:44.186" v="3" actId="404"/>
        <pc:sldMkLst>
          <pc:docMk/>
          <pc:sldMk cId="1921445212" sldId="260"/>
        </pc:sldMkLst>
        <pc:spChg chg="mod">
          <ac:chgData name="Sihoon Song" userId="3e2bcfb71621bc09" providerId="LiveId" clId="{D6B86B6F-DE59-41CE-A255-3DBBC130CD18}" dt="2025-04-15T06:41:44.186" v="3" actId="404"/>
          <ac:spMkLst>
            <pc:docMk/>
            <pc:sldMk cId="1921445212" sldId="260"/>
            <ac:spMk id="7" creationId="{3CA06EFB-13F6-14CF-7E05-B16DFE2A734F}"/>
          </ac:spMkLst>
        </pc:spChg>
      </pc:sldChg>
      <pc:sldChg chg="modSp mod">
        <pc:chgData name="Sihoon Song" userId="3e2bcfb71621bc09" providerId="LiveId" clId="{D6B86B6F-DE59-41CE-A255-3DBBC130CD18}" dt="2025-04-15T06:42:23.088" v="6" actId="1036"/>
        <pc:sldMkLst>
          <pc:docMk/>
          <pc:sldMk cId="3442994251" sldId="264"/>
        </pc:sldMkLst>
        <pc:picChg chg="mod">
          <ac:chgData name="Sihoon Song" userId="3e2bcfb71621bc09" providerId="LiveId" clId="{D6B86B6F-DE59-41CE-A255-3DBBC130CD18}" dt="2025-04-15T06:42:09.088" v="4" actId="1076"/>
          <ac:picMkLst>
            <pc:docMk/>
            <pc:sldMk cId="3442994251" sldId="264"/>
            <ac:picMk id="3" creationId="{27132806-D2B9-B081-DCDA-9140BCB97FDD}"/>
          </ac:picMkLst>
        </pc:picChg>
        <pc:picChg chg="mod">
          <ac:chgData name="Sihoon Song" userId="3e2bcfb71621bc09" providerId="LiveId" clId="{D6B86B6F-DE59-41CE-A255-3DBBC130CD18}" dt="2025-04-15T06:42:23.088" v="6" actId="1036"/>
          <ac:picMkLst>
            <pc:docMk/>
            <pc:sldMk cId="3442994251" sldId="264"/>
            <ac:picMk id="15" creationId="{381B742B-DDB6-61B5-F2DC-635C18C3B394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10:49:45.789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1,'31'0,"-1"0,-10 0,0 0,1 0,-1 0,-4 0,0 0,0 0,0 0,2 0,-2 0,-2 0,-2 1,-1 0,0 0,-1-1,1 0,-1 1,0 0,3-1,-3 0,2 0,-1 0,-3 0,5 0,-2 0,-2 0,6 0,-8 0,7 0,-6 0,4 0,2 0,-3 0,3 0,-4 0,0 0,3 0,-4 0,2 0,0 0,0 0,1 0,-2 0,1 0,-1 0,1 0,1 0,-4 0,5 0,-3 0,0 0,3 0,-5 0,6 0,-5 0,1 0,2 0,-3 0,4 0,-1 0,-2 0,4 0,-3 0,0 0,-1 0,2 0,-3 0,4 0,-3 0,-1 0,5 0,-7 0,7 0,-5 0,1 0,3 0,-5 0,5 0,-4 0,2 0,0 0,-1 0,0 0,2 0,-3 0,2 0,0 0,-2 0,3 0,-3 0,2 0,0 1,-2 0,1 0,0-1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28449F-450F-AF87-6E57-D54398940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8C5774-F3EA-FDAA-C966-B82F3629B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ED4CB2-8CFB-2CDC-70D7-5DEC57F1B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485440-1AD8-CDD7-7577-2336BF3FE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BE47DB-C70D-8356-FA4D-25186D132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4944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C79A1-25DD-5354-AE37-BC56E335A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6A8924-EA90-0C29-F678-F05757C12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F8E4C1-F390-076E-FB22-457DA97D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6DE9D-65BD-4E49-D88F-B3067BA0B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5C8B8F-14DB-08E1-1CE2-23966D251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0524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12F3E-FF98-B557-FEB1-1DF67484B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961848-1801-6A5D-C77A-348ABD88A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6318E-1A2E-4036-A0C0-B29D8E774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060BE1-9038-E448-1F47-DDFCB8BA4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9819D1-03D2-8E36-E2FE-71F5E8CF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3336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D6C3B5-8DD9-B47B-3F24-506E3D704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341C2-B041-E15D-CD26-29B579AEB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6A1228-56F3-EA5C-A8C4-4B819B8DA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4310FF-B2DE-6E8B-AC1A-817AA1708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326944-9187-E86B-13A2-63688779D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4C1221-C61C-12CE-248B-64C7D907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81145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45A06-DF99-C20D-71A8-5B451E402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1B7EDD-BD52-8258-4FD2-62F4943DD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7EB255-F1BD-B142-08E3-936399F94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773BC4-0290-905D-EEC5-1F2577E3E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6D0AD3-3CCE-2140-C0A6-B4FEA27C7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2650C7-5DB8-2BF2-ECA8-960F9E24F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3BDC897-6E98-ADA5-2523-B25F9806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1D9A54-AC16-FBA0-CFA1-689D9D59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9218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DC638-12F6-4F60-38B2-FE9637F3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A37B3E-7E68-5923-6E7D-D559BE6E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43694C-60AB-F187-4E85-0D1106927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9706A9-17AA-F5AF-B0DE-02951C45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6798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53C480-2CA4-D3FE-D43B-6FB3C61E5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A3F796-811B-E50B-250A-13832EB1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69AA18-950F-0EF2-64A5-338C1D833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86461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FCDCE-D95C-05D7-4A21-F5D94EC67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23D1FE-F0E4-F456-1BB4-415AEFAAC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6CB3B2-7EF2-D835-0B73-10582C8F0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22AFEC-14B7-E9EC-FBB0-C4B7AAB7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AE028C-FC74-422D-E043-7B97E185F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8B7D3-1374-3E2D-0FA8-2718C664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13537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7B4C8-BA12-4D83-9AED-058D9BBD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9809F1-0BA5-2AD1-4268-9382C5A7B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661CCB-9C17-5146-00EE-BFDBBFDDC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C0AAD2-AC8B-4581-6F6D-25C17E9EB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D95EF-CC8B-9DBD-9D40-8A82A4F9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4356FE-BE8F-8437-DCC5-5CEDE7BA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0298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3B3B23-9294-057B-1D14-8008D149D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114274-16D6-0E12-7BCE-5FBA5A785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0D0EE0-39CA-65E2-CB1A-DFE6785DC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5728C0-2C5D-FB86-B434-06505C330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36CFB7-BB58-9C80-8C6E-9CCA86D68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096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287CD6-66E1-F671-2FFC-62B030516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BBA636-4AB5-4FD6-CE35-82FC944D6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D419D3-4689-9C79-FAD2-B2A126C43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2CC478-FBEE-634D-1520-8C65F65B4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1FAD2B-8373-0612-E2A6-5075B146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602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EB18983-4D9A-F41D-A4E2-F21514C4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C64384-7BF2-90B3-4DB8-BAAC1888C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C82C56-40CC-B95D-3A24-8DAA15053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84AAC-7EFA-9F4D-96CB-FCAD60490626}" type="datetimeFigureOut">
              <a:rPr kumimoji="1" lang="ko-KR" altLang="en-US" smtClean="0"/>
              <a:t>2025-04-15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840D72-59A3-D8EF-0DC8-0E7AAA5927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5CF98D-029E-9F55-8E60-C37AC4008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07DCA-F7DA-514E-AAF2-0540B52AE25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3360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tmob.com/k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transfermarkt.com/premier-league/marktwerte/wettbewerb/GB1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6E4C50-1E6C-9A32-EBE8-252930718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75120"/>
            <a:ext cx="9144000" cy="145449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ko-KR" sz="4400" b="1" dirty="0">
                <a:effectLst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축구 경기 데이터 분석을 통한 </a:t>
            </a:r>
            <a:br>
              <a:rPr lang="en-US" altLang="ko-KR" sz="4400" b="1" dirty="0">
                <a:effectLst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</a:br>
            <a:r>
              <a:rPr lang="ko-KR" altLang="ko-KR" sz="4400" b="1" dirty="0">
                <a:effectLst/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선수 퍼포먼스 평가</a:t>
            </a:r>
            <a:r>
              <a:rPr lang="ko-KR" altLang="ko-KR" sz="4400" b="1" dirty="0">
                <a:effectLst/>
                <a:latin typeface="Freesentation 8 ExtraBold" pitchFamily="2" charset="-127"/>
                <a:ea typeface="Freesentation 8 ExtraBold" pitchFamily="2" charset="-127"/>
              </a:rPr>
              <a:t> </a:t>
            </a:r>
            <a:endParaRPr kumimoji="1" lang="ko-KR" altLang="en-US" sz="4400" b="1" dirty="0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2C41214-F043-46E0-6240-6AF6CE697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9876"/>
            <a:ext cx="9144000" cy="447448"/>
          </a:xfrm>
        </p:spPr>
        <p:txBody>
          <a:bodyPr>
            <a:normAutofit/>
          </a:bodyPr>
          <a:lstStyle/>
          <a:p>
            <a:r>
              <a:rPr kumimoji="1" lang="ko-KR" altLang="en-US" sz="2000" spc="300" dirty="0" err="1">
                <a:latin typeface="Freesentation 3 Light" pitchFamily="2" charset="-127"/>
                <a:ea typeface="Freesentation 3 Light" pitchFamily="2" charset="-127"/>
              </a:rPr>
              <a:t>송시훈</a:t>
            </a:r>
            <a:r>
              <a:rPr kumimoji="1" lang="en-US" altLang="ko-KR" sz="2000" spc="300">
                <a:latin typeface="Freesentation 3 Light" pitchFamily="2" charset="-127"/>
                <a:ea typeface="Freesentation 3 Light" pitchFamily="2" charset="-127"/>
              </a:rPr>
              <a:t> </a:t>
            </a:r>
            <a:r>
              <a:rPr kumimoji="1" lang="ko-KR" altLang="en-US" sz="2000" spc="300">
                <a:latin typeface="Freesentation 3 Light" pitchFamily="2" charset="-127"/>
                <a:ea typeface="Freesentation 3 Light" pitchFamily="2" charset="-127"/>
              </a:rPr>
              <a:t> 함석헌</a:t>
            </a:r>
            <a:r>
              <a:rPr kumimoji="1" lang="en-US" altLang="ko-KR" sz="2000" spc="300">
                <a:latin typeface="Freesentation 3 Light" pitchFamily="2" charset="-127"/>
                <a:ea typeface="Freesentation 3 Light" pitchFamily="2" charset="-127"/>
              </a:rPr>
              <a:t> </a:t>
            </a:r>
            <a:r>
              <a:rPr kumimoji="1" lang="ko-KR" altLang="en-US" sz="2000" spc="300">
                <a:latin typeface="Freesentation 3 Light" pitchFamily="2" charset="-127"/>
                <a:ea typeface="Freesentation 3 Light" pitchFamily="2" charset="-127"/>
              </a:rPr>
              <a:t> 이지연</a:t>
            </a:r>
          </a:p>
        </p:txBody>
      </p:sp>
    </p:spTree>
    <p:extLst>
      <p:ext uri="{BB962C8B-B14F-4D97-AF65-F5344CB8AC3E}">
        <p14:creationId xmlns:p14="http://schemas.microsoft.com/office/powerpoint/2010/main" val="258840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61CF-6009-DF37-0EB7-69BE47AB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DFC4FE4-963B-E8FB-C8C8-E6FBD75412A8}"/>
              </a:ext>
            </a:extLst>
          </p:cNvPr>
          <p:cNvSpPr txBox="1">
            <a:spLocks/>
          </p:cNvSpPr>
          <p:nvPr/>
        </p:nvSpPr>
        <p:spPr>
          <a:xfrm>
            <a:off x="838200" y="818356"/>
            <a:ext cx="9144000" cy="868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1" lang="ko-KR" altLang="en-US" sz="3600" b="1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연구 배경 및 필요성</a:t>
            </a:r>
            <a:endParaRPr kumimoji="1" lang="ko-KR" altLang="en-US" sz="3600" b="1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26B58-52D0-6A7C-CE5E-26FC1550AEC8}"/>
              </a:ext>
            </a:extLst>
          </p:cNvPr>
          <p:cNvSpPr txBox="1"/>
          <p:nvPr/>
        </p:nvSpPr>
        <p:spPr>
          <a:xfrm>
            <a:off x="838200" y="2663835"/>
            <a:ext cx="7696200" cy="272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현대 축구에서는 선수의 기량을 평가하고 </a:t>
            </a:r>
            <a:r>
              <a:rPr lang="ko-KR" altLang="ko-KR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스카우팅하는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과정에서 객관적인 데이터 분석이 점점 더 중요한 역할을 하고 있다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과거에는 선수의 기량을 평가하는 데 감독과 코칭 스태프의 주관적인 판단이 주요한 요소였으나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최근에는 경기 중 발생하는 다양한 데이터를 정량적으로 분석하여 선수의 실제 가치를 평가하는 방식이 확산되고 있다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endParaRPr lang="en-US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특히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선수 개인의 퍼포먼스를 객관적으로 평가할 수 있는 데이터 기반 접근법은 선수 영입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전술 최적화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팀 성과 예측 등에 활용될 수 있어 축구 산업에서 필수적인 요소로 자리 잡았다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유럽 주요 리그 및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FIFA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같은 기관에서는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GPS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기반 </a:t>
            </a:r>
            <a:r>
              <a:rPr lang="ko-KR" altLang="ko-KR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트래킹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데이터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패스 성공률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기대득점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xG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),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수비 기여도 등의 다양한 지표를 활용해 선수의 역량을 평가하고 있으며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이와 같은 분석 기법이 국내 축구 산업에서도 점차 도입되고 있다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  <a:endParaRPr lang="ko-KR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287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90918E2-19D6-8379-BF8D-E276B0327A73}"/>
              </a:ext>
            </a:extLst>
          </p:cNvPr>
          <p:cNvSpPr txBox="1">
            <a:spLocks/>
          </p:cNvSpPr>
          <p:nvPr/>
        </p:nvSpPr>
        <p:spPr>
          <a:xfrm>
            <a:off x="838200" y="818356"/>
            <a:ext cx="9144000" cy="868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1" lang="ko-KR" altLang="en-US" sz="3600" b="1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기존 연구와의 연관성</a:t>
            </a:r>
            <a:endParaRPr kumimoji="1" lang="ko-KR" altLang="en-US" sz="3600" b="1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A9E48-4BA8-1138-0438-2A39488AA502}"/>
              </a:ext>
            </a:extLst>
          </p:cNvPr>
          <p:cNvSpPr txBox="1"/>
          <p:nvPr/>
        </p:nvSpPr>
        <p:spPr>
          <a:xfrm>
            <a:off x="838200" y="3039392"/>
            <a:ext cx="7696200" cy="1984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520"/>
              </a:lnSpc>
              <a:spcAft>
                <a:spcPts val="800"/>
              </a:spcAft>
            </a:pPr>
            <a:r>
              <a:rPr lang="ko-KR" altLang="en-US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이와 관련하여 기존 연구에서는 선수의 능력을 평가하기 위한 다양한 모델과 지표가 개발되어 왔다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 </a:t>
            </a: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대표적으로 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Moneyball </a:t>
            </a: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방식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en-US" altLang="ko-KR" sz="1600" kern="100" spc="5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xG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</a:t>
            </a: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기대 득점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) </a:t>
            </a: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모델 연구 등이 있다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 </a:t>
            </a: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하지만 기존 연구들은 주로 특정 지표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sz="1600" kern="100" spc="5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xG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패스 성공률 등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)</a:t>
            </a:r>
            <a:r>
              <a:rPr lang="ko-KR" altLang="ko-KR" sz="1600" kern="100" spc="5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에</a:t>
            </a: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초점을 맞춘 경우가 많아서 우리가 경험적으로 봤을 때 좋은 선수이지만 데이터 상으로는 좋은 선수가 아니게 되는 경우도 생긴다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 </a:t>
            </a: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따라서 이 연구는 다양한 경기 데이터를 통합적으로 분석하여 선수의 객관적인 가치를 평가하는 모델을 제안하고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실제 경기 및 선수 영입 의사 결정 과정에서 활용할 수 있는 실용적인 프레임워크를 제공하는 것을 목표로 한다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  <a:endParaRPr lang="ko-KR" altLang="ko-KR" sz="1600" kern="100" spc="5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519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E12D1-B8D0-BF5B-3BE8-AFC674DDC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 descr="텍스트, 스크린샷, 소프트웨어, 컴퓨터 아이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C923C76-6129-F45F-144E-288F2A98F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417" y="4076979"/>
            <a:ext cx="3352000" cy="2345362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B381B95-13AB-9E4B-AD62-21C17B1DEE6F}"/>
              </a:ext>
            </a:extLst>
          </p:cNvPr>
          <p:cNvSpPr txBox="1">
            <a:spLocks/>
          </p:cNvSpPr>
          <p:nvPr/>
        </p:nvSpPr>
        <p:spPr>
          <a:xfrm>
            <a:off x="838200" y="818356"/>
            <a:ext cx="9144000" cy="868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1" lang="ko-KR" altLang="en-US" sz="36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연구 진행 방법</a:t>
            </a:r>
            <a:endParaRPr kumimoji="1" lang="ko-KR" altLang="en-US" sz="3600" b="1" dirty="0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A06EFB-13F6-14CF-7E05-B16DFE2A734F}"/>
              </a:ext>
            </a:extLst>
          </p:cNvPr>
          <p:cNvSpPr txBox="1"/>
          <p:nvPr/>
        </p:nvSpPr>
        <p:spPr>
          <a:xfrm>
            <a:off x="843583" y="1777999"/>
            <a:ext cx="6919181" cy="4595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800"/>
              </a:spcAft>
            </a:pPr>
            <a:r>
              <a:rPr lang="en-US" altLang="ko-KR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‘</a:t>
            </a:r>
            <a:r>
              <a:rPr lang="en" altLang="ko-KR" sz="1050" kern="100" spc="50" dirty="0" err="1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Fotmob</a:t>
            </a:r>
            <a:r>
              <a:rPr lang="en-US" altLang="ko-KR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’</a:t>
            </a:r>
            <a:r>
              <a:rPr lang="en" altLang="ko-KR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웹사이트에 있는 선수들의 통계를 크롤링해서 평가모델을 만들 예정</a:t>
            </a:r>
            <a:r>
              <a:rPr lang="en-US" altLang="ko-KR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ts val="2520"/>
              </a:lnSpc>
              <a:spcAft>
                <a:spcPts val="800"/>
              </a:spcAft>
            </a:pPr>
            <a:r>
              <a:rPr lang="en-US" altLang="ko-KR" sz="1050" u="sng" kern="100" spc="50" dirty="0">
                <a:solidFill>
                  <a:srgbClr val="467886"/>
                </a:solidFill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  <a:hlinkClick r:id="rId3"/>
              </a:rPr>
              <a:t>https://www.fotmob.com/ko</a:t>
            </a:r>
            <a:r>
              <a:rPr lang="ko-KR" altLang="en-US" sz="1050" u="sng" kern="100" spc="50" dirty="0">
                <a:solidFill>
                  <a:srgbClr val="467886"/>
                </a:solidFill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endParaRPr lang="en-US" altLang="ko-KR" sz="1050" u="sng" kern="100" spc="50" dirty="0">
              <a:solidFill>
                <a:srgbClr val="467886"/>
              </a:solidFill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>
              <a:lnSpc>
                <a:spcPts val="2520"/>
              </a:lnSpc>
              <a:spcAft>
                <a:spcPts val="800"/>
              </a:spcAft>
            </a:pPr>
            <a:r>
              <a:rPr lang="en-US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05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선수별</a:t>
            </a:r>
            <a:r>
              <a:rPr lang="ko-KR" altLang="en-US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en" altLang="ko-KR" sz="105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Scounting</a:t>
            </a:r>
            <a:r>
              <a:rPr lang="en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Report </a:t>
            </a:r>
            <a:r>
              <a:rPr lang="ko-KR" altLang="en-US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지표 </a:t>
            </a:r>
            <a:r>
              <a:rPr lang="ko-KR" altLang="en-US" sz="105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스탯</a:t>
            </a:r>
            <a:r>
              <a:rPr lang="ko-KR" altLang="en-US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데이터들을 </a:t>
            </a:r>
            <a:r>
              <a:rPr lang="ko-KR" altLang="en-US" sz="105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크롤링을</a:t>
            </a:r>
            <a:r>
              <a:rPr lang="ko-KR" altLang="en-US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통해 수집해서 분석</a:t>
            </a:r>
            <a:r>
              <a:rPr lang="en-US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050" b="1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웹사이트 선정 이유 </a:t>
            </a:r>
            <a:r>
              <a:rPr lang="en-US" altLang="ko-KR" sz="1050" b="1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050" b="1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90</a:t>
            </a:r>
            <a:r>
              <a:rPr lang="ko-KR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분 당 기록으로 나와있</a:t>
            </a:r>
            <a:r>
              <a:rPr lang="ko-KR" altLang="en-US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어 </a:t>
            </a:r>
            <a:r>
              <a:rPr lang="ko-KR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출전 시간과 관계없이 공정한 비교 가능</a:t>
            </a:r>
            <a:r>
              <a:rPr lang="en-US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  <a:endParaRPr lang="ko-KR" altLang="ko-KR" sz="105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                                </a:t>
            </a:r>
            <a:r>
              <a:rPr lang="ko-KR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또한 시즌에 출전 시간이 나와있으며</a:t>
            </a:r>
            <a:r>
              <a:rPr lang="en-US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그 시즌에 몇 게임을 플레이 했는지</a:t>
            </a:r>
            <a:r>
              <a:rPr lang="ko-KR" altLang="en-US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                  </a:t>
            </a:r>
            <a:endParaRPr lang="en-US" altLang="ko-KR" sz="105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                                </a:t>
            </a:r>
            <a:r>
              <a:rPr lang="ko-KR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도 나와있기에</a:t>
            </a:r>
            <a:r>
              <a:rPr lang="en-US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평균 출전 시간을 구할 수 있음</a:t>
            </a:r>
            <a:r>
              <a:rPr lang="en-US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  <a:r>
              <a:rPr lang="ko-KR" altLang="en-US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이 기록들은 시즌별로</a:t>
            </a:r>
            <a:r>
              <a:rPr lang="en-US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</a:t>
            </a:r>
            <a:r>
              <a:rPr lang="ko-KR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연</a:t>
            </a:r>
            <a:r>
              <a:rPr lang="ko-KR" altLang="en-US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  </a:t>
            </a:r>
            <a:endParaRPr lang="en-US" altLang="ko-KR" sz="105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                               </a:t>
            </a:r>
            <a:r>
              <a:rPr lang="ko-KR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도별로</a:t>
            </a:r>
            <a:r>
              <a:rPr lang="en-US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) </a:t>
            </a:r>
            <a:r>
              <a:rPr lang="ko-KR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나와있기 때문에 매년 달라짐</a:t>
            </a:r>
            <a:r>
              <a:rPr lang="en-US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 </a:t>
            </a:r>
            <a:r>
              <a:rPr lang="ko-KR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따라서 자세한 분석이 가능함</a:t>
            </a:r>
            <a:r>
              <a:rPr lang="en-US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  <a:endParaRPr lang="ko-KR" altLang="ko-KR" sz="105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050" b="1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문제점</a:t>
            </a:r>
            <a:r>
              <a:rPr lang="en-US" altLang="ko-KR" sz="1050" b="1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050" b="1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리그마다 차이가 있어 사이트에 </a:t>
            </a:r>
            <a:r>
              <a:rPr lang="en" altLang="ko-KR" sz="105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Scounting</a:t>
            </a:r>
            <a:r>
              <a:rPr lang="en" altLang="ko-KR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Report </a:t>
            </a:r>
            <a:r>
              <a:rPr lang="ko-KR" altLang="en-US" sz="105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가 </a:t>
            </a:r>
            <a:r>
              <a:rPr lang="ko-KR" altLang="en-US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없는 선수들 존재</a:t>
            </a:r>
            <a:r>
              <a:rPr lang="en-US" altLang="ko-KR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  <a:r>
              <a:rPr lang="ko-KR" altLang="en-US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endParaRPr lang="en-US" altLang="ko-KR" sz="1050" kern="100" spc="5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           따라서 데이터가 잘 나와있는 리그를 한정시키고 분석을 진행하기로 결정</a:t>
            </a:r>
            <a:r>
              <a:rPr lang="en-US" altLang="ko-KR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  <a:r>
              <a:rPr lang="ko-KR" altLang="en-US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endParaRPr lang="en-US" altLang="ko-KR" sz="1050" kern="100" spc="5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050" b="1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고려해야 할 점 </a:t>
            </a:r>
            <a:r>
              <a:rPr lang="en-US" altLang="ko-KR" sz="1050" b="1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050" b="1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리그마다 수준차이가 있기 때문에 그 부분에 대해서 추후 분석 시 반영</a:t>
            </a:r>
            <a:r>
              <a:rPr lang="en-US" altLang="ko-KR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en-US" altLang="ko-KR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-&gt;</a:t>
            </a:r>
            <a:r>
              <a:rPr lang="ko-KR" altLang="en-US" sz="105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따라서 </a:t>
            </a:r>
            <a:r>
              <a:rPr lang="ko-KR" altLang="ko-KR" sz="105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크롤링을</a:t>
            </a:r>
            <a:r>
              <a:rPr lang="ko-KR" altLang="ko-KR" sz="105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통해 저장한 후 </a:t>
            </a:r>
            <a:r>
              <a:rPr lang="ko-KR" altLang="ko-KR" sz="105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파이썬을</a:t>
            </a:r>
            <a:r>
              <a:rPr lang="ko-KR" altLang="ko-KR" sz="105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통해 연관분석 진행</a:t>
            </a:r>
            <a:endParaRPr lang="en-US" altLang="ko-KR" sz="1050" kern="100" spc="5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 descr="텍스트, 스크린샷, 소프트웨어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3DA0501-E53E-91B8-A99B-C790754FF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800" y="1448811"/>
            <a:ext cx="3352000" cy="2304073"/>
          </a:xfrm>
          <a:prstGeom prst="rect">
            <a:avLst/>
          </a:prstGeom>
        </p:spPr>
      </p:pic>
      <p:sp>
        <p:nvSpPr>
          <p:cNvPr id="12" name="액자 11">
            <a:extLst>
              <a:ext uri="{FF2B5EF4-FFF2-40B4-BE49-F238E27FC236}">
                <a16:creationId xmlns:a16="http://schemas.microsoft.com/office/drawing/2014/main" id="{3A4D6A4A-26CF-3B7D-F7F3-0FAFE4F17804}"/>
              </a:ext>
            </a:extLst>
          </p:cNvPr>
          <p:cNvSpPr/>
          <p:nvPr/>
        </p:nvSpPr>
        <p:spPr>
          <a:xfrm>
            <a:off x="7842443" y="2085156"/>
            <a:ext cx="1375954" cy="20247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FDA4437-C4AB-BD22-F883-4BB847406A48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530420" y="2287630"/>
            <a:ext cx="0" cy="21015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BCF49FD-D71C-7950-E384-66D30BC46D53}"/>
              </a:ext>
            </a:extLst>
          </p:cNvPr>
          <p:cNvSpPr txBox="1"/>
          <p:nvPr/>
        </p:nvSpPr>
        <p:spPr>
          <a:xfrm>
            <a:off x="8515768" y="3752884"/>
            <a:ext cx="1199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900">
                <a:latin typeface="Freesentation 3 Light" pitchFamily="2" charset="-127"/>
                <a:ea typeface="Freesentation 3 Light" pitchFamily="2" charset="-127"/>
              </a:rPr>
              <a:t>선수 클릭 시 선수에 대한</a:t>
            </a:r>
            <a:endParaRPr kumimoji="1" lang="en-US" altLang="ko-KR" sz="900">
              <a:latin typeface="Freesentation 3 Light" pitchFamily="2" charset="-127"/>
              <a:ea typeface="Freesentation 3 Light" pitchFamily="2" charset="-127"/>
            </a:endParaRPr>
          </a:p>
          <a:p>
            <a:r>
              <a:rPr kumimoji="1" lang="ko-KR" altLang="en-US" sz="900">
                <a:latin typeface="Freesentation 3 Light" pitchFamily="2" charset="-127"/>
                <a:ea typeface="Freesentation 3 Light" pitchFamily="2" charset="-127"/>
              </a:rPr>
              <a:t>다양한 정보 및 기록 있음</a:t>
            </a:r>
            <a:r>
              <a:rPr kumimoji="1" lang="en-US" altLang="ko-KR" sz="900">
                <a:latin typeface="Freesentation 3 Light" pitchFamily="2" charset="-127"/>
                <a:ea typeface="Freesentation 3 Light" pitchFamily="2" charset="-127"/>
              </a:rPr>
              <a:t>.</a:t>
            </a:r>
            <a:endParaRPr kumimoji="1" lang="ko-KR" altLang="en-US" sz="900">
              <a:latin typeface="Freesentation 3 Light" pitchFamily="2" charset="-127"/>
              <a:ea typeface="Freesentation 3 Light" pitchFamily="2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845A582E-7DC1-AE34-3BC4-D4FAA2307658}"/>
                  </a:ext>
                </a:extLst>
              </p14:cNvPr>
              <p14:cNvContentPartPr/>
              <p14:nvPr/>
            </p14:nvContentPartPr>
            <p14:xfrm>
              <a:off x="9748379" y="4366226"/>
              <a:ext cx="419760" cy="324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845A582E-7DC1-AE34-3BC4-D4FAA230765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12379" y="4294586"/>
                <a:ext cx="491400" cy="14688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직사각형 24">
            <a:extLst>
              <a:ext uri="{FF2B5EF4-FFF2-40B4-BE49-F238E27FC236}">
                <a16:creationId xmlns:a16="http://schemas.microsoft.com/office/drawing/2014/main" id="{632E2FFE-4238-9ECE-8599-C51DF74CE1B5}"/>
              </a:ext>
            </a:extLst>
          </p:cNvPr>
          <p:cNvSpPr/>
          <p:nvPr/>
        </p:nvSpPr>
        <p:spPr>
          <a:xfrm>
            <a:off x="8050696" y="4305631"/>
            <a:ext cx="1315941" cy="2085875"/>
          </a:xfrm>
          <a:prstGeom prst="rect">
            <a:avLst/>
          </a:prstGeom>
          <a:solidFill>
            <a:srgbClr val="A4FFFF">
              <a:alpha val="3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5EB89F-8D45-F725-EB04-179B05714D51}"/>
              </a:ext>
            </a:extLst>
          </p:cNvPr>
          <p:cNvSpPr txBox="1"/>
          <p:nvPr/>
        </p:nvSpPr>
        <p:spPr>
          <a:xfrm>
            <a:off x="8602063" y="4250810"/>
            <a:ext cx="9139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900" dirty="0">
                <a:latin typeface="Freesentation 4 Regular" pitchFamily="2" charset="-127"/>
                <a:ea typeface="Freesentation 4 Regular" pitchFamily="2" charset="-127"/>
              </a:rPr>
              <a:t>[</a:t>
            </a:r>
            <a:r>
              <a:rPr kumimoji="1" lang="ko-KR" altLang="en-US" sz="900" dirty="0">
                <a:latin typeface="Freesentation 4 Regular" pitchFamily="2" charset="-127"/>
                <a:ea typeface="Freesentation 4 Regular" pitchFamily="2" charset="-127"/>
              </a:rPr>
              <a:t>수집할 데이터</a:t>
            </a:r>
            <a:r>
              <a:rPr kumimoji="1" lang="en-US" altLang="ko-KR" sz="900" dirty="0">
                <a:latin typeface="Freesentation 4 Regular" pitchFamily="2" charset="-127"/>
                <a:ea typeface="Freesentation 4 Regular" pitchFamily="2" charset="-127"/>
              </a:rPr>
              <a:t>]</a:t>
            </a:r>
          </a:p>
        </p:txBody>
      </p:sp>
      <p:sp>
        <p:nvSpPr>
          <p:cNvPr id="27" name="액자 26">
            <a:extLst>
              <a:ext uri="{FF2B5EF4-FFF2-40B4-BE49-F238E27FC236}">
                <a16:creationId xmlns:a16="http://schemas.microsoft.com/office/drawing/2014/main" id="{2EA977B2-2D13-292E-0505-BCF6FB3BF5CF}"/>
              </a:ext>
            </a:extLst>
          </p:cNvPr>
          <p:cNvSpPr/>
          <p:nvPr/>
        </p:nvSpPr>
        <p:spPr>
          <a:xfrm>
            <a:off x="9921875" y="4305631"/>
            <a:ext cx="246264" cy="145719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445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6F9D2-8966-02ED-CA99-232B63F1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CB89C16-E885-18D6-B9E2-F1719B51F308}"/>
              </a:ext>
            </a:extLst>
          </p:cNvPr>
          <p:cNvSpPr txBox="1">
            <a:spLocks/>
          </p:cNvSpPr>
          <p:nvPr/>
        </p:nvSpPr>
        <p:spPr>
          <a:xfrm>
            <a:off x="838200" y="818356"/>
            <a:ext cx="9144000" cy="868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1" lang="ko-KR" altLang="en-US" sz="36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연구 진행 방법</a:t>
            </a:r>
            <a:endParaRPr kumimoji="1" lang="ko-KR" altLang="en-US" sz="3600" b="1" dirty="0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DCF857-5295-660C-F155-94CE3C51B541}"/>
              </a:ext>
            </a:extLst>
          </p:cNvPr>
          <p:cNvSpPr txBox="1"/>
          <p:nvPr/>
        </p:nvSpPr>
        <p:spPr>
          <a:xfrm>
            <a:off x="838199" y="3646226"/>
            <a:ext cx="8371115" cy="804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다른 카테고리에서 몇몇 선수들 누락 되어있었기에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프리미어리그 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2024/2025 </a:t>
            </a:r>
            <a:r>
              <a:rPr lang="en" altLang="ko-KR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FotMob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평점 카테고리에서 </a:t>
            </a:r>
            <a:endParaRPr lang="en-US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1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페이지에 있는 선수들 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10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명 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90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분당 시즌성적  </a:t>
            </a:r>
            <a:r>
              <a:rPr lang="ko-KR" altLang="en-US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크롤링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132806-D2B9-B081-DCDA-9140BCB97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5549" y="2273159"/>
            <a:ext cx="12543098" cy="957414"/>
          </a:xfrm>
          <a:prstGeom prst="rect">
            <a:avLst/>
          </a:prstGeom>
        </p:spPr>
      </p:pic>
      <p:pic>
        <p:nvPicPr>
          <p:cNvPr id="6" name="그림 5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CBF4CBC-FDF3-0BEE-9A1B-026581721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0600" y="4764015"/>
            <a:ext cx="2180436" cy="1679525"/>
          </a:xfrm>
          <a:prstGeom prst="rect">
            <a:avLst/>
          </a:prstGeom>
        </p:spPr>
      </p:pic>
      <p:pic>
        <p:nvPicPr>
          <p:cNvPr id="9" name="그림 8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7A9FF6F-A02F-1D78-D6F0-B9FEE64E6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033" y="4764015"/>
            <a:ext cx="2180436" cy="1679525"/>
          </a:xfrm>
          <a:prstGeom prst="rect">
            <a:avLst/>
          </a:prstGeom>
        </p:spPr>
      </p:pic>
      <p:pic>
        <p:nvPicPr>
          <p:cNvPr id="11" name="그림 10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B2F7B7A-89DF-B90A-A780-ACC1EF7D5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5963" y="4773860"/>
            <a:ext cx="2249939" cy="1677319"/>
          </a:xfrm>
          <a:prstGeom prst="rect">
            <a:avLst/>
          </a:prstGeom>
        </p:spPr>
      </p:pic>
      <p:pic>
        <p:nvPicPr>
          <p:cNvPr id="13" name="그림 12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D1D347E-66FD-659B-892F-0185BAA4BB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8893" y="4773860"/>
            <a:ext cx="2239692" cy="1669680"/>
          </a:xfrm>
          <a:prstGeom prst="rect">
            <a:avLst/>
          </a:prstGeom>
        </p:spPr>
      </p:pic>
      <p:pic>
        <p:nvPicPr>
          <p:cNvPr id="15" name="그림 14" descr="텍스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81B742B-DDB6-61B5-F2DC-635C18C3B3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577" y="4789942"/>
            <a:ext cx="2239692" cy="166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94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4CFFE-28BD-3E6B-0957-926A5C22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D845B4B-B8EA-796B-EB19-CC388DF955FB}"/>
              </a:ext>
            </a:extLst>
          </p:cNvPr>
          <p:cNvSpPr txBox="1">
            <a:spLocks/>
          </p:cNvSpPr>
          <p:nvPr/>
        </p:nvSpPr>
        <p:spPr>
          <a:xfrm>
            <a:off x="838200" y="818356"/>
            <a:ext cx="9144000" cy="868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1" lang="ko-KR" altLang="en-US" sz="36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연구 진행 방법</a:t>
            </a:r>
            <a:endParaRPr kumimoji="1" lang="ko-KR" altLang="en-US" sz="3600" b="1" dirty="0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6B026-0641-BC06-38D0-CBD4B48F7A0E}"/>
              </a:ext>
            </a:extLst>
          </p:cNvPr>
          <p:cNvSpPr txBox="1"/>
          <p:nvPr/>
        </p:nvSpPr>
        <p:spPr>
          <a:xfrm>
            <a:off x="838200" y="2582192"/>
            <a:ext cx="6575854" cy="2292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이후 현재 뛰고 있는 선수들의 과거 기록을 대입하여 분석한 내용이 사용 가능한지 얼마나 정확한지 확인</a:t>
            </a:r>
            <a:r>
              <a:rPr lang="ko-KR" altLang="en-US" sz="1600" kern="100" spc="5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후 </a:t>
            </a:r>
            <a:r>
              <a:rPr lang="ko-KR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선수의 몸값을 기준으로 판단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</a:p>
          <a:p>
            <a:pPr latinLnBrk="1">
              <a:lnSpc>
                <a:spcPts val="2520"/>
              </a:lnSpc>
              <a:spcAft>
                <a:spcPts val="800"/>
              </a:spcAft>
            </a:pPr>
            <a:r>
              <a:rPr lang="en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  <a:hlinkClick r:id="rId2"/>
              </a:rPr>
              <a:t>https://www.transfermarkt.com/premier-league/marktwerte/wettbewerb/GB1</a:t>
            </a:r>
            <a:endParaRPr lang="en-US" altLang="ko-KR" sz="1600" kern="100" spc="5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</a:pP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평가 기준인 선수의 몸값은 위의 링크에서 따로 크롤링할 예정</a:t>
            </a:r>
            <a:r>
              <a:rPr lang="en-US" altLang="ko-KR" sz="1600" kern="1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</a:p>
          <a:p>
            <a:pPr latinLnBrk="1">
              <a:lnSpc>
                <a:spcPts val="2520"/>
              </a:lnSpc>
              <a:spcAft>
                <a:spcPts val="800"/>
              </a:spcAft>
            </a:pPr>
            <a:r>
              <a:rPr lang="en-US" altLang="ko-KR" sz="1600" kern="100" spc="5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-&gt;</a:t>
            </a:r>
            <a:r>
              <a:rPr lang="ko-KR" altLang="en-US" sz="1600" kern="100" spc="5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ko-KR" sz="1600" spc="5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선수의 평가는 특정 년도의 선수의 몸값으로 평가할 예정</a:t>
            </a:r>
            <a:r>
              <a:rPr lang="ko-KR" altLang="ko-KR" sz="1600" spc="50">
                <a:effectLst/>
                <a:latin typeface="Freesentation 4 Regular" pitchFamily="2" charset="-127"/>
                <a:ea typeface="Freesentation 4 Regular" pitchFamily="2" charset="-127"/>
              </a:rPr>
              <a:t> </a:t>
            </a:r>
            <a:endParaRPr lang="ko-KR" altLang="ko-KR" sz="1600" kern="100" spc="5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 descr="텍스트, 소프트웨어, 웹 페이지, 웹사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3CF4C5F-BB09-0E86-332A-4862CC865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056" y="2572334"/>
            <a:ext cx="3618744" cy="230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5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8D102-F841-2F68-0F87-800D271F6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DE79DD8-4314-2719-0384-002EDE248BC3}"/>
              </a:ext>
            </a:extLst>
          </p:cNvPr>
          <p:cNvSpPr txBox="1">
            <a:spLocks/>
          </p:cNvSpPr>
          <p:nvPr/>
        </p:nvSpPr>
        <p:spPr>
          <a:xfrm>
            <a:off x="838200" y="818356"/>
            <a:ext cx="9144000" cy="868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1" lang="ko-KR" altLang="en-US" sz="3600" b="1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연구 진행 방법</a:t>
            </a:r>
            <a:endParaRPr kumimoji="1" lang="ko-KR" altLang="en-US" sz="3600" b="1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DD7FC-F2AF-1877-2F36-BC4EC050DF82}"/>
              </a:ext>
            </a:extLst>
          </p:cNvPr>
          <p:cNvSpPr txBox="1"/>
          <p:nvPr/>
        </p:nvSpPr>
        <p:spPr>
          <a:xfrm>
            <a:off x="838200" y="2508051"/>
            <a:ext cx="8268730" cy="3459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600" b="1" u="sng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분석할 리그 </a:t>
            </a:r>
            <a:r>
              <a:rPr lang="en-US" altLang="ko-KR" sz="1600" b="1" u="sng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600" b="1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프리미어리그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잉글랜드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), </a:t>
            </a:r>
            <a:r>
              <a:rPr lang="ko-KR" altLang="en-US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라리가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스페인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),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분데스리가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독일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), </a:t>
            </a:r>
            <a:r>
              <a:rPr lang="ko-KR" altLang="en-US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리그앙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(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프랑스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), 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세리에</a:t>
            </a:r>
            <a:r>
              <a:rPr lang="en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A(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이탈리아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)</a:t>
            </a: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분석 포함에 고려중인 리그 </a:t>
            </a:r>
            <a:r>
              <a:rPr lang="en-US" altLang="ko-KR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endParaRPr lang="en-US" altLang="ko-KR" sz="1600" kern="100" spc="5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marL="342900" indent="-342900" latinLnBrk="1">
              <a:lnSpc>
                <a:spcPts val="2520"/>
              </a:lnSpc>
              <a:spcAft>
                <a:spcPts val="800"/>
              </a:spcAft>
              <a:buAutoNum type="arabicPeriod"/>
            </a:pPr>
            <a:r>
              <a:rPr lang="ko-KR" altLang="en-US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챔피언스리그</a:t>
            </a:r>
            <a:r>
              <a:rPr lang="en-US" altLang="ko-KR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위 리그에 참여하는 선수들이 챔피언스리그에 참여함</a:t>
            </a:r>
            <a:r>
              <a:rPr lang="en-US" altLang="ko-KR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  <a:r>
              <a:rPr lang="ko-KR" altLang="en-US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따라서 위의 리그와 챔피언스리그에 참여하는 선수가 동일하여도 다른 결과를 가질 수 있음</a:t>
            </a:r>
            <a:r>
              <a:rPr lang="en-US" altLang="ko-KR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  <a:r>
              <a:rPr lang="ko-KR" altLang="en-US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결과적으로 </a:t>
            </a:r>
            <a:r>
              <a:rPr lang="en-US" altLang="ko-KR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y</a:t>
            </a:r>
            <a:r>
              <a:rPr lang="ko-KR" altLang="en-US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값은 한 개이지만 데이터가 정반대가 될 수 있어 분석할 리그에 포함해야 할지 고민 중</a:t>
            </a:r>
            <a:r>
              <a:rPr lang="en-US" altLang="ko-KR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</a:p>
          <a:p>
            <a:pPr marL="342900" indent="-342900" latinLnBrk="1">
              <a:lnSpc>
                <a:spcPts val="2520"/>
              </a:lnSpc>
              <a:spcAft>
                <a:spcPts val="800"/>
              </a:spcAft>
              <a:buAutoNum type="arabicPeriod"/>
            </a:pP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K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리그 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스탯이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큰 차이가 나지 않아 몸값에서 거의 </a:t>
            </a:r>
            <a:r>
              <a:rPr lang="ko-KR" altLang="en-US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몇백에서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몇천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배 차이가 날 수 있어 분석할 리그에 포함하는 것을 고민 중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</a:p>
          <a:p>
            <a:pPr latinLnBrk="1">
              <a:lnSpc>
                <a:spcPts val="2520"/>
              </a:lnSpc>
              <a:spcAft>
                <a:spcPts val="800"/>
              </a:spcAft>
            </a:pPr>
            <a:endParaRPr lang="en-US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</a:pPr>
            <a:r>
              <a:rPr lang="ko-KR" altLang="en-US" sz="1600" b="1" u="sng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수집할 데이터 기간 </a:t>
            </a:r>
            <a:r>
              <a:rPr lang="en-US" altLang="ko-KR" sz="1600" b="1" u="sng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리그별 </a:t>
            </a:r>
            <a:r>
              <a:rPr lang="en-US" altLang="ko-KR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10</a:t>
            </a:r>
            <a:r>
              <a:rPr lang="ko-KR" altLang="en-US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년치 선수들 개인 시즌 성적 </a:t>
            </a:r>
            <a:endParaRPr lang="en-US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815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D6A7-2C81-A34B-B9B3-6A59A97DC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61D4AA1-E780-3A7E-FE51-CB1893377458}"/>
              </a:ext>
            </a:extLst>
          </p:cNvPr>
          <p:cNvSpPr txBox="1">
            <a:spLocks/>
          </p:cNvSpPr>
          <p:nvPr/>
        </p:nvSpPr>
        <p:spPr>
          <a:xfrm>
            <a:off x="838200" y="818356"/>
            <a:ext cx="9144000" cy="868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1" lang="ko-KR" altLang="en-US" sz="3600" b="1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연구 진행 방법</a:t>
            </a:r>
            <a:endParaRPr kumimoji="1" lang="ko-KR" altLang="en-US" sz="3600" b="1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DE3758-5E80-9960-9B5B-9744CE48CC61}"/>
              </a:ext>
            </a:extLst>
          </p:cNvPr>
          <p:cNvSpPr txBox="1"/>
          <p:nvPr/>
        </p:nvSpPr>
        <p:spPr>
          <a:xfrm>
            <a:off x="838200" y="3010959"/>
            <a:ext cx="8268730" cy="1227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600" b="1" u="sng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이외에 분석에 포함할 데이터 요소 </a:t>
            </a:r>
            <a:r>
              <a:rPr lang="en-US" altLang="ko-KR" sz="1600" b="1" u="sng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: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선수들의 나이</a:t>
            </a:r>
            <a:endParaRPr lang="en-US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marL="285750" indent="-285750" latinLnBrk="1">
              <a:lnSpc>
                <a:spcPts val="2520"/>
              </a:lnSpc>
              <a:spcAft>
                <a:spcPts val="800"/>
              </a:spcAft>
              <a:buFont typeface="Wingdings" pitchFamily="2" charset="2"/>
              <a:buChar char="è"/>
            </a:pPr>
            <a:r>
              <a:rPr lang="ko-KR" altLang="ko-KR" sz="16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축구선수는 너무 늙지도 너무 젊지도 않은 전성기가 오는 나이가 있</a:t>
            </a:r>
            <a:r>
              <a:rPr lang="ko-KR" altLang="en-US" sz="16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기에</a:t>
            </a:r>
            <a:endParaRPr lang="en-US" altLang="ko-KR" sz="1600" spc="5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</a:pPr>
            <a:r>
              <a:rPr lang="ko-KR" altLang="en-US" sz="16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    </a:t>
            </a:r>
            <a:r>
              <a:rPr lang="ko-KR" altLang="ko-KR" sz="16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이와 관련해서도 연관분석을 통해 나이가 진짜로 영향을 미치는지 분석할 예정</a:t>
            </a:r>
            <a:r>
              <a:rPr lang="ko-KR" altLang="ko-KR" sz="1600" spc="50" dirty="0">
                <a:effectLst/>
                <a:latin typeface="Freesentation 4 Regular" pitchFamily="2" charset="-127"/>
                <a:ea typeface="Freesentation 4 Regular" pitchFamily="2" charset="-127"/>
              </a:rPr>
              <a:t> </a:t>
            </a:r>
            <a:endParaRPr lang="en-US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851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3FD5-B42B-E8A7-D171-6616A367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E6CA6BC-129B-E946-F4E1-8A4B1D555EFC}"/>
              </a:ext>
            </a:extLst>
          </p:cNvPr>
          <p:cNvSpPr txBox="1">
            <a:spLocks/>
          </p:cNvSpPr>
          <p:nvPr/>
        </p:nvSpPr>
        <p:spPr>
          <a:xfrm>
            <a:off x="838200" y="818356"/>
            <a:ext cx="9144000" cy="868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kumimoji="1" lang="ko-KR" altLang="en-US" sz="3600" b="1" dirty="0">
                <a:latin typeface="Freesentation 8 ExtraBold" pitchFamily="2" charset="-127"/>
                <a:ea typeface="Freesentation 8 ExtraBold" pitchFamily="2" charset="-127"/>
                <a:cs typeface="Times New Roman" panose="02020603050405020304" pitchFamily="18" charset="0"/>
              </a:rPr>
              <a:t>연구 목표</a:t>
            </a:r>
            <a:endParaRPr kumimoji="1" lang="ko-KR" altLang="en-US" sz="3600" b="1" dirty="0">
              <a:latin typeface="Freesentation 8 ExtraBold" pitchFamily="2" charset="-127"/>
              <a:ea typeface="Freesentation 8 Extra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A863C-4364-B4B5-B72D-C45A0BDBDB5C}"/>
              </a:ext>
            </a:extLst>
          </p:cNvPr>
          <p:cNvSpPr txBox="1"/>
          <p:nvPr/>
        </p:nvSpPr>
        <p:spPr>
          <a:xfrm>
            <a:off x="838200" y="2054514"/>
            <a:ext cx="7749746" cy="4408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600" b="1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분석 및 모델링 계획</a:t>
            </a:r>
            <a:endParaRPr lang="en-US" altLang="ko-KR" sz="1600" b="1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marL="342900" lvl="0" indent="-342900" latinLnBrk="1">
              <a:lnSpc>
                <a:spcPts val="2520"/>
              </a:lnSpc>
              <a:buFont typeface="Wingdings" pitchFamily="2" charset="2"/>
              <a:buChar char=""/>
            </a:pP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선수 개인의 기록을 기반으로 성과지표 도출</a:t>
            </a:r>
          </a:p>
          <a:p>
            <a:pPr marL="342900" lvl="0" indent="-342900" latinLnBrk="1">
              <a:lnSpc>
                <a:spcPts val="2520"/>
              </a:lnSpc>
              <a:buFont typeface="Wingdings" pitchFamily="2" charset="2"/>
              <a:buChar char=""/>
            </a:pP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선수의 몸값을 기준으로 비교 및 모델 성능 검증</a:t>
            </a:r>
          </a:p>
          <a:p>
            <a:pPr marL="342900" lvl="0" indent="-342900" latinLnBrk="1">
              <a:lnSpc>
                <a:spcPts val="2520"/>
              </a:lnSpc>
              <a:spcAft>
                <a:spcPts val="800"/>
              </a:spcAft>
              <a:buFont typeface="Wingdings" pitchFamily="2" charset="2"/>
              <a:buChar char=""/>
            </a:pPr>
            <a:r>
              <a:rPr lang="ko-KR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유사 선수 매칭</a:t>
            </a:r>
            <a:endParaRPr lang="en-US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vl="0" latinLnBrk="1">
              <a:lnSpc>
                <a:spcPts val="2520"/>
              </a:lnSpc>
              <a:spcAft>
                <a:spcPts val="800"/>
              </a:spcAft>
            </a:pPr>
            <a:endParaRPr lang="en-US" altLang="ko-KR" sz="1600" kern="100" spc="50" dirty="0"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-&gt;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</a:t>
            </a:r>
            <a:r>
              <a:rPr lang="en" altLang="ko-KR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Fotmob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웹사이트에서 분석계획중인 리그별 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10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년치 선수들 개인 시즌 성적 </a:t>
            </a:r>
            <a:r>
              <a:rPr lang="ko-KR" altLang="en-US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크롤링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후 객관적 가치    </a:t>
            </a:r>
            <a:endParaRPr lang="en-US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600" kern="100" spc="50" dirty="0"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     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평가모델 구현한다면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선수의 </a:t>
            </a:r>
            <a:r>
              <a:rPr lang="ko-KR" altLang="en-US" sz="1600" kern="100" spc="50" dirty="0" err="1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스탯</a:t>
            </a: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입력 시 분석한 데이터 결과로 가치의 정도를 예상할 수 있음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.</a:t>
            </a:r>
            <a:endParaRPr lang="ko-KR" altLang="en-US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     실제로 그 선수의 현재 가치가 얼마나 되는지 같이 입력하여</a:t>
            </a:r>
            <a:r>
              <a:rPr lang="en-US" altLang="ko-KR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,</a:t>
            </a: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r>
              <a:rPr lang="ko-KR" altLang="en-US" sz="1600" kern="100" spc="50" dirty="0">
                <a:effectLst/>
                <a:latin typeface="Freesentation 4 Regular" pitchFamily="2" charset="-127"/>
                <a:ea typeface="Freesentation 4 Regular" pitchFamily="2" charset="-127"/>
                <a:cs typeface="Times New Roman" panose="02020603050405020304" pitchFamily="18" charset="0"/>
              </a:rPr>
              <a:t>       해당 선수가 고평가를 받고 있는지 저평가를 받고 있는지를 분석하는 사이트 개발 및 웹사이트 구현</a:t>
            </a:r>
            <a:endParaRPr lang="en-US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vl="0" latinLnBrk="1">
              <a:lnSpc>
                <a:spcPts val="2520"/>
              </a:lnSpc>
              <a:spcAft>
                <a:spcPts val="800"/>
              </a:spcAft>
            </a:pPr>
            <a:endParaRPr lang="ko-KR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  <a:p>
            <a:pPr latinLnBrk="1">
              <a:lnSpc>
                <a:spcPts val="2520"/>
              </a:lnSpc>
              <a:spcAft>
                <a:spcPts val="800"/>
              </a:spcAft>
              <a:buNone/>
            </a:pPr>
            <a:endParaRPr lang="en-US" altLang="ko-KR" sz="1600" kern="100" spc="50" dirty="0">
              <a:effectLst/>
              <a:latin typeface="Freesentation 4 Regular" pitchFamily="2" charset="-127"/>
              <a:ea typeface="Freesentation 4 Regular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077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</TotalTime>
  <Words>698</Words>
  <Application>Microsoft Office PowerPoint</Application>
  <PresentationFormat>와이드스크린</PresentationFormat>
  <Paragraphs>51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Freesentation 3 Light</vt:lpstr>
      <vt:lpstr>Freesentation 4 Regular</vt:lpstr>
      <vt:lpstr>Freesentation 8 ExtraBold</vt:lpstr>
      <vt:lpstr>맑은 고딕</vt:lpstr>
      <vt:lpstr>Arial</vt:lpstr>
      <vt:lpstr>Wingdings</vt:lpstr>
      <vt:lpstr>Office 테마</vt:lpstr>
      <vt:lpstr>축구 경기 데이터 분석을 통한  선수 퍼포먼스 평가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t8497</dc:creator>
  <cp:lastModifiedBy>Sihoon Song</cp:lastModifiedBy>
  <cp:revision>13</cp:revision>
  <dcterms:created xsi:type="dcterms:W3CDTF">2025-04-13T18:59:32Z</dcterms:created>
  <dcterms:modified xsi:type="dcterms:W3CDTF">2025-04-15T06:42:31Z</dcterms:modified>
</cp:coreProperties>
</file>